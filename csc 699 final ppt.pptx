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25"/>
  </p:notesMasterIdLst>
  <p:handoutMasterIdLst>
    <p:handoutMasterId r:id="rId26"/>
  </p:handoutMasterIdLst>
  <p:sldIdLst>
    <p:sldId id="278" r:id="rId5"/>
    <p:sldId id="282" r:id="rId6"/>
    <p:sldId id="312" r:id="rId7"/>
    <p:sldId id="295" r:id="rId8"/>
    <p:sldId id="296" r:id="rId9"/>
    <p:sldId id="297" r:id="rId10"/>
    <p:sldId id="298" r:id="rId11"/>
    <p:sldId id="299" r:id="rId12"/>
    <p:sldId id="313" r:id="rId13"/>
    <p:sldId id="301" r:id="rId14"/>
    <p:sldId id="302" r:id="rId15"/>
    <p:sldId id="303" r:id="rId16"/>
    <p:sldId id="314" r:id="rId17"/>
    <p:sldId id="315" r:id="rId18"/>
    <p:sldId id="316" r:id="rId19"/>
    <p:sldId id="317" r:id="rId20"/>
    <p:sldId id="318" r:id="rId21"/>
    <p:sldId id="307" r:id="rId22"/>
    <p:sldId id="308" r:id="rId23"/>
    <p:sldId id="30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5388" autoAdjust="0"/>
  </p:normalViewPr>
  <p:slideViewPr>
    <p:cSldViewPr snapToGrid="0">
      <p:cViewPr varScale="1">
        <p:scale>
          <a:sx n="57" d="100"/>
          <a:sy n="57" d="100"/>
        </p:scale>
        <p:origin x="696" y="43"/>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12/6/2025</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2839339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human-pose.mpi-inf.mpg.d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oogle.github.io/mediapip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Oval 16">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9" name="Group 18">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20" name="Freeform: Shape 19">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Oval 22">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5" name="Rectangle 24">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1" y="184667"/>
            <a:ext cx="6112852" cy="6673334"/>
          </a:xfrm>
        </p:spPr>
        <p:txBody>
          <a:bodyPr vert="horz" wrap="square" lIns="0" tIns="0" rIns="0" bIns="0" rtlCol="0" anchor="b" anchorCtr="0">
            <a:normAutofit/>
          </a:bodyPr>
          <a:lstStyle/>
          <a:p>
            <a:pPr algn="ctr">
              <a:lnSpc>
                <a:spcPct val="100000"/>
              </a:lnSpc>
            </a:pPr>
            <a:r>
              <a:rPr lang="en-US" sz="3200" dirty="0">
                <a:latin typeface="Times New Roman" panose="02020603050405020304" pitchFamily="18" charset="0"/>
                <a:cs typeface="Times New Roman" panose="02020603050405020304" pitchFamily="18" charset="0"/>
              </a:rPr>
              <a:t>Real-Time Human Pose Tracking</a:t>
            </a:r>
            <a:br>
              <a:rPr lang="en-US" sz="3200" dirty="0">
                <a:latin typeface="Times New Roman" panose="02020603050405020304" pitchFamily="18" charset="0"/>
                <a:cs typeface="Times New Roman" panose="02020603050405020304" pitchFamily="18" charset="0"/>
              </a:rPr>
            </a:br>
            <a:br>
              <a:rPr lang="en-US" sz="54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CSC 699- Final Project</a:t>
            </a:r>
            <a:br>
              <a:rPr lang="en-US" sz="5400" dirty="0">
                <a:latin typeface="Times New Roman" panose="02020603050405020304" pitchFamily="18" charset="0"/>
                <a:cs typeface="Times New Roman" panose="02020603050405020304" pitchFamily="18" charset="0"/>
              </a:rPr>
            </a:br>
            <a:br>
              <a:rPr lang="en-US" sz="54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Under The Guidance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Dr. Chaoyang Zhang</a:t>
            </a:r>
            <a:br>
              <a:rPr lang="en-US" sz="2800" dirty="0">
                <a:latin typeface="Times New Roman" panose="02020603050405020304" pitchFamily="18" charset="0"/>
                <a:cs typeface="Times New Roman" panose="02020603050405020304" pitchFamily="18" charset="0"/>
              </a:rPr>
            </a:br>
            <a:br>
              <a:rPr lang="en-US" sz="2800" kern="1200" dirty="0">
                <a:solidFill>
                  <a:schemeClr val="tx1"/>
                </a:solidFill>
              </a:rPr>
            </a:br>
            <a:r>
              <a:rPr lang="en-US" sz="2600" kern="1200" dirty="0">
                <a:solidFill>
                  <a:schemeClr val="tx1"/>
                </a:solidFill>
                <a:latin typeface="+mj-lt"/>
                <a:ea typeface="+mj-ea"/>
                <a:cs typeface="+mj-cs"/>
              </a:rPr>
              <a:t>                        </a:t>
            </a:r>
            <a:br>
              <a:rPr lang="en-US" sz="2600" kern="1200" dirty="0">
                <a:solidFill>
                  <a:schemeClr val="tx1"/>
                </a:solidFill>
                <a:latin typeface="+mj-lt"/>
                <a:ea typeface="+mj-ea"/>
                <a:cs typeface="+mj-cs"/>
              </a:rPr>
            </a:br>
            <a:r>
              <a:rPr lang="en-US" sz="2400" kern="1200" dirty="0">
                <a:solidFill>
                  <a:schemeClr val="tx1"/>
                </a:solidFill>
                <a:latin typeface="Times New Roman" panose="02020603050405020304" pitchFamily="18" charset="0"/>
                <a:cs typeface="Times New Roman" panose="02020603050405020304" pitchFamily="18" charset="0"/>
              </a:rPr>
              <a:t>Presented by:</a:t>
            </a:r>
            <a:br>
              <a:rPr lang="en-US" sz="2400" kern="1200" dirty="0">
                <a:solidFill>
                  <a:schemeClr val="tx1"/>
                </a:solidFill>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Nandini </a:t>
            </a:r>
            <a:r>
              <a:rPr lang="en-US" sz="2400" dirty="0" err="1">
                <a:latin typeface="Times New Roman" panose="02020603050405020304" pitchFamily="18" charset="0"/>
                <a:cs typeface="Times New Roman" panose="02020603050405020304" pitchFamily="18" charset="0"/>
              </a:rPr>
              <a:t>Suridevara</a:t>
            </a: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a:t>
            </a:r>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2224" r="5778" b="2"/>
          <a:stretch/>
        </p:blipFill>
        <p:spPr>
          <a:xfrm>
            <a:off x="6508749" y="862806"/>
            <a:ext cx="5132388" cy="5132388"/>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pic>
      <p:grpSp>
        <p:nvGrpSpPr>
          <p:cNvPr id="27" name="Group 26">
            <a:extLst>
              <a:ext uri="{FF2B5EF4-FFF2-40B4-BE49-F238E27FC236}">
                <a16:creationId xmlns:a16="http://schemas.microsoft.com/office/drawing/2014/main" id="{73840CF4-F848-4FE0-AEA6-C9E806911B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20950" y="549275"/>
            <a:ext cx="667802" cy="631474"/>
            <a:chOff x="10478914" y="1506691"/>
            <a:chExt cx="667802" cy="631474"/>
          </a:xfrm>
        </p:grpSpPr>
        <p:sp>
          <p:nvSpPr>
            <p:cNvPr id="28" name="Freeform: Shape 27">
              <a:extLst>
                <a:ext uri="{FF2B5EF4-FFF2-40B4-BE49-F238E27FC236}">
                  <a16:creationId xmlns:a16="http://schemas.microsoft.com/office/drawing/2014/main" id="{F4B46153-41DB-494F-9B08-EBCCF27283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Oval 28">
              <a:extLst>
                <a:ext uri="{FF2B5EF4-FFF2-40B4-BE49-F238E27FC236}">
                  <a16:creationId xmlns:a16="http://schemas.microsoft.com/office/drawing/2014/main" id="{7B6D42DA-2D84-4A50-A359-7A5C651B1C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1" name="Oval 30">
            <a:extLst>
              <a:ext uri="{FF2B5EF4-FFF2-40B4-BE49-F238E27FC236}">
                <a16:creationId xmlns:a16="http://schemas.microsoft.com/office/drawing/2014/main" id="{94459D96-B947-4C7F-8BCA-915F8B07C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2954" y="5171203"/>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316AE843-0173-C583-1D07-0BEA2EDB603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University Logo | Office of University Communications | The ...">
            <a:extLst>
              <a:ext uri="{FF2B5EF4-FFF2-40B4-BE49-F238E27FC236}">
                <a16:creationId xmlns:a16="http://schemas.microsoft.com/office/drawing/2014/main" id="{35178CD7-D248-E83A-25CD-E93F134B8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3113" y="285004"/>
            <a:ext cx="1656713" cy="1153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09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3" y="483925"/>
            <a:ext cx="11090275" cy="805380"/>
          </a:xfrm>
        </p:spPr>
        <p:txBody>
          <a:bodyPr>
            <a:normAutofit/>
          </a:bodyPr>
          <a:lstStyle/>
          <a:p>
            <a:r>
              <a:rPr lang="en-US" sz="4400"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1416908"/>
            <a:ext cx="11090274" cy="4915630"/>
          </a:xfrm>
        </p:spPr>
        <p:txBody>
          <a:bodyPr>
            <a:normAutofit fontScale="70000" lnSpcReduction="20000"/>
          </a:bodyPr>
          <a:lstStyle/>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Introduction</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Overview of </a:t>
            </a:r>
            <a:r>
              <a:rPr lang="en-US" sz="2900" b="1" dirty="0" err="1">
                <a:solidFill>
                  <a:schemeClr val="tx1">
                    <a:lumMod val="75000"/>
                  </a:schemeClr>
                </a:solidFill>
                <a:latin typeface="Times New Roman" panose="02020603050405020304" pitchFamily="18" charset="0"/>
                <a:cs typeface="Times New Roman" panose="02020603050405020304" pitchFamily="18" charset="0"/>
              </a:rPr>
              <a:t>MediaPipe</a:t>
            </a:r>
            <a:r>
              <a:rPr lang="en-US" sz="2900" b="1" dirty="0">
                <a:solidFill>
                  <a:schemeClr val="tx1">
                    <a:lumMod val="75000"/>
                  </a:schemeClr>
                </a:solidFill>
                <a:latin typeface="Times New Roman" panose="02020603050405020304" pitchFamily="18" charset="0"/>
                <a:cs typeface="Times New Roman" panose="02020603050405020304" pitchFamily="18" charset="0"/>
              </a:rPr>
              <a:t> Library</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Implementation Workflow</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Demonstration of Real-Time Tracking</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Introduction to MPII Dataset</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Validation and Evaluation Metrics</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Results and Observations</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Challenges and Limitations</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Future Scope</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900" b="1" dirty="0">
                <a:solidFill>
                  <a:schemeClr val="tx1">
                    <a:lumMod val="75000"/>
                  </a:schemeClr>
                </a:solidFill>
                <a:latin typeface="Times New Roman" panose="02020603050405020304" pitchFamily="18" charset="0"/>
                <a:cs typeface="Times New Roman" panose="02020603050405020304" pitchFamily="18" charset="0"/>
              </a:rPr>
              <a:t>Conclusion and References</a:t>
            </a:r>
            <a:endParaRPr lang="en-US" sz="2900" dirty="0">
              <a:solidFill>
                <a:schemeClr val="tx1">
                  <a:lumMod val="75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BBCE7-A6E4-C62A-5A45-15639FD32623}"/>
              </a:ext>
            </a:extLst>
          </p:cNvPr>
          <p:cNvSpPr>
            <a:spLocks noGrp="1"/>
          </p:cNvSpPr>
          <p:nvPr>
            <p:ph type="title"/>
          </p:nvPr>
        </p:nvSpPr>
        <p:spPr>
          <a:xfrm>
            <a:off x="625002" y="343329"/>
            <a:ext cx="11091600" cy="1332000"/>
          </a:xfrm>
        </p:spPr>
        <p:txBody>
          <a:bodyPr>
            <a:normAutofit/>
          </a:bodyPr>
          <a:lstStyle/>
          <a:p>
            <a:r>
              <a:rPr lang="en-US" sz="44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B221FAB-ADEF-993D-55AE-3FB6FA3C32B4}"/>
              </a:ext>
            </a:extLst>
          </p:cNvPr>
          <p:cNvSpPr>
            <a:spLocks noGrp="1"/>
          </p:cNvSpPr>
          <p:nvPr>
            <p:ph idx="1"/>
          </p:nvPr>
        </p:nvSpPr>
        <p:spPr>
          <a:xfrm>
            <a:off x="550863" y="1548715"/>
            <a:ext cx="11090274" cy="4544110"/>
          </a:xfrm>
        </p:spPr>
        <p:txBody>
          <a:bodyPr/>
          <a:lstStyle/>
          <a:p>
            <a:r>
              <a:rPr lang="en-US" dirty="0">
                <a:solidFill>
                  <a:schemeClr val="accent5">
                    <a:lumMod val="20000"/>
                    <a:lumOff val="80000"/>
                    <a:alpha val="60000"/>
                  </a:schemeClr>
                </a:solidFill>
                <a:latin typeface="Times New Roman" panose="02020603050405020304" pitchFamily="18" charset="0"/>
                <a:cs typeface="Times New Roman" panose="02020603050405020304" pitchFamily="18" charset="0"/>
              </a:rPr>
              <a:t>This project presents a real-time human pose tracking system using </a:t>
            </a:r>
            <a:r>
              <a:rPr lang="en-US" dirty="0" err="1">
                <a:solidFill>
                  <a:schemeClr val="accent5">
                    <a:lumMod val="20000"/>
                    <a:lumOff val="80000"/>
                    <a:alpha val="60000"/>
                  </a:schemeClr>
                </a:solidFill>
                <a:latin typeface="Times New Roman" panose="02020603050405020304" pitchFamily="18" charset="0"/>
                <a:cs typeface="Times New Roman" panose="02020603050405020304" pitchFamily="18" charset="0"/>
              </a:rPr>
              <a:t>Mediapipe’s</a:t>
            </a:r>
            <a:r>
              <a:rPr lang="en-US" dirty="0">
                <a:solidFill>
                  <a:schemeClr val="accent5">
                    <a:lumMod val="20000"/>
                    <a:lumOff val="80000"/>
                    <a:alpha val="60000"/>
                  </a:schemeClr>
                </a:solidFill>
                <a:latin typeface="Times New Roman" panose="02020603050405020304" pitchFamily="18" charset="0"/>
                <a:cs typeface="Times New Roman" panose="02020603050405020304" pitchFamily="18" charset="0"/>
              </a:rPr>
              <a:t> pose estimation framework. The system efficiently detects and tracks human body landmarks, enabling accurate pose recognition in dynamic environments. Validation against annotated datasets demonstrates the model’s precision through Mean Per Joint Position Error (MPJPE) analysis. The proposed approach offers a robust solution for applications in sports analysis, healthcare, and interactive systems.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466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2A6A4-504F-AD06-BC3F-8C912C6D65E8}"/>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202C54A-395D-ADA6-974F-198C81AB6584}"/>
              </a:ext>
            </a:extLst>
          </p:cNvPr>
          <p:cNvSpPr>
            <a:spLocks noGrp="1"/>
          </p:cNvSpPr>
          <p:nvPr>
            <p:ph idx="1"/>
          </p:nvPr>
        </p:nvSpPr>
        <p:spPr>
          <a:xfrm>
            <a:off x="550863" y="2113200"/>
            <a:ext cx="11090274" cy="2701172"/>
          </a:xfrm>
        </p:spPr>
        <p:txBody>
          <a:bodyPr/>
          <a:lstStyle/>
          <a:p>
            <a:r>
              <a:rPr lang="en-US" dirty="0"/>
              <a:t>Human pose estimation is a crucial task in computer vision that involves detecting and tracking key body landmarks to understand human posture and movement.</a:t>
            </a:r>
          </a:p>
          <a:p>
            <a:r>
              <a:rPr lang="en-US" dirty="0"/>
              <a:t>Applications: fitness tracking, animation, sports analysis, AR/VR.</a:t>
            </a:r>
          </a:p>
          <a:p>
            <a:pPr>
              <a:buFont typeface="Arial" panose="020B0604020202020204" pitchFamily="34" charset="0"/>
              <a:buChar char="•"/>
            </a:pPr>
            <a:r>
              <a:rPr lang="en-US" dirty="0"/>
              <a:t>Objective: Real-time pose tracking using </a:t>
            </a:r>
            <a:r>
              <a:rPr lang="en-US" b="1" dirty="0"/>
              <a:t>Media Pipe</a:t>
            </a:r>
            <a:r>
              <a:rPr lang="en-US" dirty="0"/>
              <a:t> and validation via </a:t>
            </a:r>
            <a:r>
              <a:rPr lang="en-US" b="1" dirty="0"/>
              <a:t>MPII dataset</a:t>
            </a:r>
            <a:r>
              <a:rPr lang="en-US" dirty="0"/>
              <a:t>.</a:t>
            </a:r>
          </a:p>
          <a:p>
            <a:pPr marL="0" indent="0">
              <a:buNone/>
            </a:pPr>
            <a:endParaRPr lang="en-US" dirty="0"/>
          </a:p>
        </p:txBody>
      </p:sp>
    </p:spTree>
    <p:extLst>
      <p:ext uri="{BB962C8B-B14F-4D97-AF65-F5344CB8AC3E}">
        <p14:creationId xmlns:p14="http://schemas.microsoft.com/office/powerpoint/2010/main" val="3512446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17B7-CAF2-1D8D-9A24-74FE8EAC2781}"/>
              </a:ext>
            </a:extLst>
          </p:cNvPr>
          <p:cNvSpPr>
            <a:spLocks noGrp="1"/>
          </p:cNvSpPr>
          <p:nvPr>
            <p:ph type="title"/>
          </p:nvPr>
        </p:nvSpPr>
        <p:spPr>
          <a:xfrm>
            <a:off x="550862" y="771181"/>
            <a:ext cx="11091600" cy="793214"/>
          </a:xfrm>
        </p:spPr>
        <p:txBody>
          <a:bodyPr>
            <a:normAutofit/>
          </a:bodyPr>
          <a:lstStyle/>
          <a:p>
            <a:r>
              <a:rPr lang="en-US" sz="3200" dirty="0">
                <a:latin typeface="Times New Roman" panose="02020603050405020304" pitchFamily="18" charset="0"/>
                <a:cs typeface="Times New Roman" panose="02020603050405020304" pitchFamily="18" charset="0"/>
              </a:rPr>
              <a:t>What is Human Pose Estimation?</a:t>
            </a:r>
          </a:p>
        </p:txBody>
      </p:sp>
      <p:sp>
        <p:nvSpPr>
          <p:cNvPr id="4" name="Rectangle 1">
            <a:extLst>
              <a:ext uri="{FF2B5EF4-FFF2-40B4-BE49-F238E27FC236}">
                <a16:creationId xmlns:a16="http://schemas.microsoft.com/office/drawing/2014/main" id="{F8F3441C-3BE4-E222-93C1-2BDF8A3D2C7D}"/>
              </a:ext>
            </a:extLst>
          </p:cNvPr>
          <p:cNvSpPr>
            <a:spLocks noGrp="1" noChangeArrowheads="1"/>
          </p:cNvSpPr>
          <p:nvPr>
            <p:ph idx="1"/>
          </p:nvPr>
        </p:nvSpPr>
        <p:spPr bwMode="auto">
          <a:xfrm>
            <a:off x="438326" y="1767006"/>
            <a:ext cx="1120413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Detects and tracks human joints (key points) like elbows, knees, etc.</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Converts video </a:t>
            </a:r>
            <a:r>
              <a:rPr kumimoji="0" lang="en-US" altLang="en-US"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frames</a:t>
            </a: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into a skeletal model.</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Two types: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2D pose estimation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3D pose estimation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209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CE574-AA2C-149B-8C62-610687D16B0D}"/>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Overview of Media Pipe Library</a:t>
            </a:r>
          </a:p>
        </p:txBody>
      </p:sp>
      <p:sp>
        <p:nvSpPr>
          <p:cNvPr id="3" name="Content Placeholder 2">
            <a:extLst>
              <a:ext uri="{FF2B5EF4-FFF2-40B4-BE49-F238E27FC236}">
                <a16:creationId xmlns:a16="http://schemas.microsoft.com/office/drawing/2014/main" id="{395406C1-272F-795A-8813-B3300B9B4C26}"/>
              </a:ext>
            </a:extLst>
          </p:cNvPr>
          <p:cNvSpPr>
            <a:spLocks noGrp="1"/>
          </p:cNvSpPr>
          <p:nvPr>
            <p:ph idx="1"/>
          </p:nvPr>
        </p:nvSpPr>
        <p:spPr/>
        <p:txBody>
          <a:bodyPr/>
          <a:lstStyle/>
          <a:p>
            <a:pPr>
              <a:buFont typeface="Arial" panose="020B0604020202020204" pitchFamily="34" charset="0"/>
              <a:buChar char="•"/>
            </a:pPr>
            <a:r>
              <a:rPr lang="en-US" dirty="0"/>
              <a:t>Open-source cross-platform ML framework by Google.</a:t>
            </a:r>
          </a:p>
          <a:p>
            <a:pPr>
              <a:buFont typeface="Arial" panose="020B0604020202020204" pitchFamily="34" charset="0"/>
              <a:buChar char="•"/>
            </a:pPr>
            <a:r>
              <a:rPr lang="en-US" dirty="0"/>
              <a:t>Pre-trained models for real-time pose tracking.</a:t>
            </a:r>
          </a:p>
          <a:p>
            <a:pPr>
              <a:buFont typeface="Arial" panose="020B0604020202020204" pitchFamily="34" charset="0"/>
              <a:buChar char="•"/>
            </a:pPr>
            <a:r>
              <a:rPr lang="en-US" b="1" dirty="0"/>
              <a:t>Pose module</a:t>
            </a:r>
            <a:r>
              <a:rPr lang="en-US" dirty="0"/>
              <a:t> outputs 33 key points in 3D.</a:t>
            </a:r>
          </a:p>
          <a:p>
            <a:pPr>
              <a:buFont typeface="Arial" panose="020B0604020202020204" pitchFamily="34" charset="0"/>
              <a:buChar char="•"/>
            </a:pPr>
            <a:r>
              <a:rPr lang="en-US" dirty="0"/>
              <a:t>Works with CPU/GPU and supports Python/C++.</a:t>
            </a:r>
          </a:p>
          <a:p>
            <a:endParaRPr lang="en-US" dirty="0"/>
          </a:p>
        </p:txBody>
      </p:sp>
    </p:spTree>
    <p:extLst>
      <p:ext uri="{BB962C8B-B14F-4D97-AF65-F5344CB8AC3E}">
        <p14:creationId xmlns:p14="http://schemas.microsoft.com/office/powerpoint/2010/main" val="1372337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630C7-0FF0-C5C4-6829-FCBBA2C853CF}"/>
              </a:ext>
            </a:extLst>
          </p:cNvPr>
          <p:cNvSpPr>
            <a:spLocks noGrp="1"/>
          </p:cNvSpPr>
          <p:nvPr>
            <p:ph type="title"/>
          </p:nvPr>
        </p:nvSpPr>
        <p:spPr>
          <a:xfrm>
            <a:off x="550862" y="549275"/>
            <a:ext cx="11091600" cy="2414262"/>
          </a:xfrm>
        </p:spPr>
        <p:txBody>
          <a:bodyPr>
            <a:normAutofit/>
          </a:bodyPr>
          <a:lstStyle/>
          <a:p>
            <a:r>
              <a:rPr lang="en-US" sz="3600" dirty="0">
                <a:latin typeface="Times New Roman" panose="02020603050405020304" pitchFamily="18" charset="0"/>
                <a:cs typeface="Times New Roman" panose="02020603050405020304" pitchFamily="18" charset="0"/>
              </a:rPr>
              <a:t>Media Pipe Pipeline</a:t>
            </a:r>
          </a:p>
        </p:txBody>
      </p:sp>
      <p:sp>
        <p:nvSpPr>
          <p:cNvPr id="4" name="Rectangle 1">
            <a:extLst>
              <a:ext uri="{FF2B5EF4-FFF2-40B4-BE49-F238E27FC236}">
                <a16:creationId xmlns:a16="http://schemas.microsoft.com/office/drawing/2014/main" id="{F611C44C-C2FA-9B18-221E-1B78B751E23B}"/>
              </a:ext>
            </a:extLst>
          </p:cNvPr>
          <p:cNvSpPr>
            <a:spLocks noGrp="1" noChangeArrowheads="1"/>
          </p:cNvSpPr>
          <p:nvPr>
            <p:ph idx="1"/>
          </p:nvPr>
        </p:nvSpPr>
        <p:spPr bwMode="auto">
          <a:xfrm>
            <a:off x="549538" y="1987209"/>
            <a:ext cx="11557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Input: Live video or images.</a:t>
            </a:r>
          </a:p>
          <a:p>
            <a:pPr marL="0" indent="0" eaLnBrk="0" fontAlgn="base" hangingPunct="0">
              <a:lnSpc>
                <a:spcPct val="100000"/>
              </a:lnSpc>
              <a:spcBef>
                <a:spcPct val="0"/>
              </a:spcBef>
              <a:spcAft>
                <a:spcPct val="0"/>
              </a:spcAft>
              <a:buNone/>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Detection of pose landmarks.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Post-processing and drawing.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 Real-time performance: 30+ FPS on most devices</a:t>
            </a:r>
            <a:r>
              <a:rPr kumimoji="0" lang="en-US" altLang="en-US" sz="1800"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69801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EA37B-4BDA-EC98-0C79-935F9DA2F07E}"/>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Key Features of Media Pipe Pose</a:t>
            </a:r>
          </a:p>
        </p:txBody>
      </p:sp>
      <p:sp>
        <p:nvSpPr>
          <p:cNvPr id="4" name="Rectangle 1">
            <a:extLst>
              <a:ext uri="{FF2B5EF4-FFF2-40B4-BE49-F238E27FC236}">
                <a16:creationId xmlns:a16="http://schemas.microsoft.com/office/drawing/2014/main" id="{E84009F3-9BF1-8A0A-C0FF-F7C51C18B782}"/>
              </a:ext>
            </a:extLst>
          </p:cNvPr>
          <p:cNvSpPr>
            <a:spLocks noGrp="1" noChangeArrowheads="1"/>
          </p:cNvSpPr>
          <p:nvPr>
            <p:ph idx="1"/>
          </p:nvPr>
        </p:nvSpPr>
        <p:spPr bwMode="auto">
          <a:xfrm>
            <a:off x="549539" y="2040998"/>
            <a:ext cx="613076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Lightweight and fast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Easy integration with OpenCV</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Outputs coordinates, visibility, and connections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lumMod val="75000"/>
                  </a:schemeClr>
                </a:solidFill>
                <a:effectLst/>
                <a:latin typeface="Times New Roman" panose="02020603050405020304" pitchFamily="18" charset="0"/>
                <a:cs typeface="Times New Roman" panose="02020603050405020304" pitchFamily="18" charset="0"/>
              </a:rPr>
              <a:t>Suitable for edge devices</a:t>
            </a:r>
          </a:p>
        </p:txBody>
      </p:sp>
    </p:spTree>
    <p:extLst>
      <p:ext uri="{BB962C8B-B14F-4D97-AF65-F5344CB8AC3E}">
        <p14:creationId xmlns:p14="http://schemas.microsoft.com/office/powerpoint/2010/main" val="162948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5222005-168C-510E-C419-229A03F74B0A}"/>
              </a:ext>
            </a:extLst>
          </p:cNvPr>
          <p:cNvSpPr/>
          <p:nvPr/>
        </p:nvSpPr>
        <p:spPr>
          <a:xfrm>
            <a:off x="263615" y="3245003"/>
            <a:ext cx="2166552" cy="150752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Initialize Webcam Capture</a:t>
            </a:r>
          </a:p>
        </p:txBody>
      </p:sp>
      <p:sp>
        <p:nvSpPr>
          <p:cNvPr id="3" name="Arrow: Right 2">
            <a:extLst>
              <a:ext uri="{FF2B5EF4-FFF2-40B4-BE49-F238E27FC236}">
                <a16:creationId xmlns:a16="http://schemas.microsoft.com/office/drawing/2014/main" id="{B6CD649B-FCFA-65FC-46B9-A004D3A7E7EA}"/>
              </a:ext>
            </a:extLst>
          </p:cNvPr>
          <p:cNvSpPr/>
          <p:nvPr/>
        </p:nvSpPr>
        <p:spPr>
          <a:xfrm>
            <a:off x="2520781" y="3860127"/>
            <a:ext cx="69197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C243FE2-7A9F-9059-CF0B-FC9CC70EF6BA}"/>
              </a:ext>
            </a:extLst>
          </p:cNvPr>
          <p:cNvSpPr/>
          <p:nvPr/>
        </p:nvSpPr>
        <p:spPr>
          <a:xfrm>
            <a:off x="3286901" y="3253944"/>
            <a:ext cx="2347780" cy="150752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Covert frame to RGB</a:t>
            </a:r>
          </a:p>
        </p:txBody>
      </p:sp>
      <p:sp>
        <p:nvSpPr>
          <p:cNvPr id="6" name="Arrow: Right 5">
            <a:extLst>
              <a:ext uri="{FF2B5EF4-FFF2-40B4-BE49-F238E27FC236}">
                <a16:creationId xmlns:a16="http://schemas.microsoft.com/office/drawing/2014/main" id="{5FFCC56E-1CF5-D7A8-1440-9124CC0C5FA7}"/>
              </a:ext>
            </a:extLst>
          </p:cNvPr>
          <p:cNvSpPr/>
          <p:nvPr/>
        </p:nvSpPr>
        <p:spPr>
          <a:xfrm>
            <a:off x="5708823" y="3765390"/>
            <a:ext cx="69197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146324C-C9A1-CC7C-D607-B5521EA13E38}"/>
              </a:ext>
            </a:extLst>
          </p:cNvPr>
          <p:cNvSpPr/>
          <p:nvPr/>
        </p:nvSpPr>
        <p:spPr>
          <a:xfrm>
            <a:off x="6487297" y="3253943"/>
            <a:ext cx="2401330" cy="150752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Process frame with media pipe pose</a:t>
            </a:r>
          </a:p>
        </p:txBody>
      </p:sp>
      <p:sp>
        <p:nvSpPr>
          <p:cNvPr id="8" name="Arrow: Right 7">
            <a:extLst>
              <a:ext uri="{FF2B5EF4-FFF2-40B4-BE49-F238E27FC236}">
                <a16:creationId xmlns:a16="http://schemas.microsoft.com/office/drawing/2014/main" id="{A3FF49FD-873E-9C8D-C4BB-FEE776C8ACAF}"/>
              </a:ext>
            </a:extLst>
          </p:cNvPr>
          <p:cNvSpPr/>
          <p:nvPr/>
        </p:nvSpPr>
        <p:spPr>
          <a:xfrm>
            <a:off x="8979241" y="3765390"/>
            <a:ext cx="69197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15B4030-5341-51F3-E4C5-0B26396793FE}"/>
              </a:ext>
            </a:extLst>
          </p:cNvPr>
          <p:cNvSpPr/>
          <p:nvPr/>
        </p:nvSpPr>
        <p:spPr>
          <a:xfrm>
            <a:off x="9741243" y="3245004"/>
            <a:ext cx="2401330" cy="150752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Draw pose landmarks</a:t>
            </a:r>
          </a:p>
        </p:txBody>
      </p:sp>
      <p:sp>
        <p:nvSpPr>
          <p:cNvPr id="11" name="TextBox 10">
            <a:extLst>
              <a:ext uri="{FF2B5EF4-FFF2-40B4-BE49-F238E27FC236}">
                <a16:creationId xmlns:a16="http://schemas.microsoft.com/office/drawing/2014/main" id="{6ACEE288-0552-6CA1-7882-BB22A3EDE579}"/>
              </a:ext>
            </a:extLst>
          </p:cNvPr>
          <p:cNvSpPr txBox="1"/>
          <p:nvPr/>
        </p:nvSpPr>
        <p:spPr>
          <a:xfrm>
            <a:off x="502508" y="898609"/>
            <a:ext cx="6096000" cy="707886"/>
          </a:xfrm>
          <a:prstGeom prst="rect">
            <a:avLst/>
          </a:prstGeom>
          <a:noFill/>
        </p:spPr>
        <p:txBody>
          <a:bodyPr wrap="square">
            <a:spAutoFit/>
          </a:bodyPr>
          <a:lstStyle/>
          <a:p>
            <a:r>
              <a:rPr lang="en-US" sz="4000" dirty="0">
                <a:latin typeface="Times New Roman" panose="02020603050405020304" pitchFamily="18" charset="0"/>
                <a:cs typeface="Times New Roman" panose="02020603050405020304" pitchFamily="18" charset="0"/>
              </a:rPr>
              <a:t>Implementation Steps</a:t>
            </a:r>
          </a:p>
        </p:txBody>
      </p:sp>
    </p:spTree>
    <p:extLst>
      <p:ext uri="{BB962C8B-B14F-4D97-AF65-F5344CB8AC3E}">
        <p14:creationId xmlns:p14="http://schemas.microsoft.com/office/powerpoint/2010/main" val="342798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178A-6253-D8C0-1974-3240160A04A3}"/>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Sample Code Snippet</a:t>
            </a:r>
          </a:p>
        </p:txBody>
      </p:sp>
      <p:pic>
        <p:nvPicPr>
          <p:cNvPr id="5" name="Content Placeholder 4">
            <a:extLst>
              <a:ext uri="{FF2B5EF4-FFF2-40B4-BE49-F238E27FC236}">
                <a16:creationId xmlns:a16="http://schemas.microsoft.com/office/drawing/2014/main" id="{9B872BB1-F91A-A0AF-5E66-2C48D1946948}"/>
              </a:ext>
            </a:extLst>
          </p:cNvPr>
          <p:cNvPicPr>
            <a:picLocks noGrp="1" noChangeAspect="1"/>
          </p:cNvPicPr>
          <p:nvPr>
            <p:ph idx="1"/>
          </p:nvPr>
        </p:nvPicPr>
        <p:blipFill>
          <a:blip r:embed="rId2"/>
          <a:stretch>
            <a:fillRect/>
          </a:stretch>
        </p:blipFill>
        <p:spPr>
          <a:xfrm>
            <a:off x="2535313" y="2112963"/>
            <a:ext cx="7121374" cy="3979862"/>
          </a:xfrm>
        </p:spPr>
      </p:pic>
    </p:spTree>
    <p:extLst>
      <p:ext uri="{BB962C8B-B14F-4D97-AF65-F5344CB8AC3E}">
        <p14:creationId xmlns:p14="http://schemas.microsoft.com/office/powerpoint/2010/main" val="2449465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34FB-EC32-E4CC-0BAC-3C1B3877E17C}"/>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Introduction to MPII Dataset</a:t>
            </a:r>
          </a:p>
        </p:txBody>
      </p:sp>
      <p:sp>
        <p:nvSpPr>
          <p:cNvPr id="3" name="Content Placeholder 2">
            <a:extLst>
              <a:ext uri="{FF2B5EF4-FFF2-40B4-BE49-F238E27FC236}">
                <a16:creationId xmlns:a16="http://schemas.microsoft.com/office/drawing/2014/main" id="{DFBB6225-67EA-0EB3-9756-358CFC6CE58D}"/>
              </a:ext>
            </a:extLst>
          </p:cNvPr>
          <p:cNvSpPr>
            <a:spLocks noGrp="1"/>
          </p:cNvSpPr>
          <p:nvPr>
            <p:ph idx="1"/>
          </p:nvPr>
        </p:nvSpPr>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Benchmark dataset for human pose estimation.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Contains ~25,000 images and 40,000 annotated poses.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Diverse activities and camera angles.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accuracy evaluation and benchmarking</a:t>
            </a:r>
            <a:r>
              <a:rPr lang="en-US" dirty="0"/>
              <a:t>.</a:t>
            </a:r>
          </a:p>
          <a:p>
            <a:pPr marL="0" indent="0">
              <a:buNone/>
            </a:pPr>
            <a:endParaRPr lang="en-US" dirty="0"/>
          </a:p>
        </p:txBody>
      </p:sp>
      <p:sp>
        <p:nvSpPr>
          <p:cNvPr id="5" name="TextBox 4">
            <a:extLst>
              <a:ext uri="{FF2B5EF4-FFF2-40B4-BE49-F238E27FC236}">
                <a16:creationId xmlns:a16="http://schemas.microsoft.com/office/drawing/2014/main" id="{657FE49C-AE2E-D3C3-BC96-D328B1CDEDFB}"/>
              </a:ext>
            </a:extLst>
          </p:cNvPr>
          <p:cNvSpPr txBox="1"/>
          <p:nvPr/>
        </p:nvSpPr>
        <p:spPr>
          <a:xfrm>
            <a:off x="766119" y="5849550"/>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MPII Dataset: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http://human-pose.mpi-inf.mpg.de/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233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DBC60-E005-0AA5-F350-4E24BE51774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Validation using MPII Dataset</a:t>
            </a:r>
          </a:p>
        </p:txBody>
      </p:sp>
      <p:sp>
        <p:nvSpPr>
          <p:cNvPr id="3" name="Content Placeholder 2">
            <a:extLst>
              <a:ext uri="{FF2B5EF4-FFF2-40B4-BE49-F238E27FC236}">
                <a16:creationId xmlns:a16="http://schemas.microsoft.com/office/drawing/2014/main" id="{0EEA0767-4167-4F11-A75D-18FBFB52637E}"/>
              </a:ext>
            </a:extLst>
          </p:cNvPr>
          <p:cNvSpPr>
            <a:spLocks noGrp="1"/>
          </p:cNvSpPr>
          <p:nvPr>
            <p:ph idx="1"/>
          </p:nvPr>
        </p:nvSpPr>
        <p:spPr/>
        <p:txBody>
          <a:bodyPr/>
          <a:lstStyle/>
          <a:p>
            <a:pPr>
              <a:buFont typeface="Arial" panose="020B0604020202020204" pitchFamily="34" charset="0"/>
              <a:buChar char="•"/>
            </a:pPr>
            <a:r>
              <a:rPr lang="en-US" dirty="0"/>
              <a:t>Load sample frames from MPII dataset.</a:t>
            </a:r>
          </a:p>
          <a:p>
            <a:pPr>
              <a:buFont typeface="Arial" panose="020B0604020202020204" pitchFamily="34" charset="0"/>
              <a:buChar char="•"/>
            </a:pPr>
            <a:r>
              <a:rPr lang="en-US" dirty="0"/>
              <a:t>Run </a:t>
            </a:r>
            <a:r>
              <a:rPr lang="en-US" dirty="0" err="1"/>
              <a:t>MediaPipe</a:t>
            </a:r>
            <a:r>
              <a:rPr lang="en-US" dirty="0"/>
              <a:t> on static images.</a:t>
            </a:r>
          </a:p>
          <a:p>
            <a:pPr>
              <a:buFont typeface="Arial" panose="020B0604020202020204" pitchFamily="34" charset="0"/>
              <a:buChar char="•"/>
            </a:pPr>
            <a:r>
              <a:rPr lang="en-US" dirty="0"/>
              <a:t>Compare detected </a:t>
            </a:r>
            <a:r>
              <a:rPr lang="en-US" dirty="0" err="1"/>
              <a:t>keypoints</a:t>
            </a:r>
            <a:r>
              <a:rPr lang="en-US" dirty="0"/>
              <a:t> with ground-truth annotations.</a:t>
            </a:r>
          </a:p>
          <a:p>
            <a:pPr>
              <a:buFont typeface="Arial" panose="020B0604020202020204" pitchFamily="34" charset="0"/>
              <a:buChar char="•"/>
            </a:pPr>
            <a:r>
              <a:rPr lang="en-US" dirty="0"/>
              <a:t>Evaluate using PCK (Percentage of Correct </a:t>
            </a:r>
            <a:r>
              <a:rPr lang="en-US" dirty="0" err="1"/>
              <a:t>Keypoints</a:t>
            </a:r>
            <a:r>
              <a:rPr lang="en-US" dirty="0"/>
              <a:t>) metric.</a:t>
            </a:r>
          </a:p>
          <a:p>
            <a:endParaRPr lang="en-US" dirty="0"/>
          </a:p>
        </p:txBody>
      </p:sp>
    </p:spTree>
    <p:extLst>
      <p:ext uri="{BB962C8B-B14F-4D97-AF65-F5344CB8AC3E}">
        <p14:creationId xmlns:p14="http://schemas.microsoft.com/office/powerpoint/2010/main" val="3009247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A1FA-96C3-4E09-1FD4-533B9DE0092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 and Analysis</a:t>
            </a:r>
            <a:endParaRPr lang="en-US" dirty="0"/>
          </a:p>
        </p:txBody>
      </p:sp>
      <p:sp>
        <p:nvSpPr>
          <p:cNvPr id="3" name="Content Placeholder 2">
            <a:extLst>
              <a:ext uri="{FF2B5EF4-FFF2-40B4-BE49-F238E27FC236}">
                <a16:creationId xmlns:a16="http://schemas.microsoft.com/office/drawing/2014/main" id="{6ACF8CDA-90EE-88E1-3D4A-CB15C2426704}"/>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err="1">
                <a:solidFill>
                  <a:schemeClr val="tx1">
                    <a:lumMod val="75000"/>
                  </a:schemeClr>
                </a:solidFill>
                <a:latin typeface="Times New Roman" panose="02020603050405020304" pitchFamily="18" charset="0"/>
                <a:cs typeface="Times New Roman" panose="02020603050405020304" pitchFamily="18" charset="0"/>
              </a:rPr>
              <a:t>MediaPipe</a:t>
            </a:r>
            <a:r>
              <a:rPr lang="en-US" altLang="en-US" dirty="0">
                <a:solidFill>
                  <a:schemeClr val="tx1">
                    <a:lumMod val="75000"/>
                  </a:schemeClr>
                </a:solidFill>
                <a:latin typeface="Times New Roman" panose="02020603050405020304" pitchFamily="18" charset="0"/>
                <a:cs typeface="Times New Roman" panose="02020603050405020304" pitchFamily="18" charset="0"/>
              </a:rPr>
              <a:t> shows strong real-time performance.</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High PCK scores on upper body joints.</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Lower performance for occluded or twisted joints.</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No training needed (pre-trained model).</a:t>
            </a:r>
          </a:p>
          <a:p>
            <a:endParaRPr lang="en-US" dirty="0"/>
          </a:p>
        </p:txBody>
      </p:sp>
    </p:spTree>
    <p:extLst>
      <p:ext uri="{BB962C8B-B14F-4D97-AF65-F5344CB8AC3E}">
        <p14:creationId xmlns:p14="http://schemas.microsoft.com/office/powerpoint/2010/main" val="3848931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FFA18-6A15-05E7-4AD7-8D72A014EF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Pose Tracking Result</a:t>
            </a:r>
            <a:endParaRPr lang="en-US" dirty="0"/>
          </a:p>
        </p:txBody>
      </p:sp>
      <p:pic>
        <p:nvPicPr>
          <p:cNvPr id="5" name="Content Placeholder 4">
            <a:extLst>
              <a:ext uri="{FF2B5EF4-FFF2-40B4-BE49-F238E27FC236}">
                <a16:creationId xmlns:a16="http://schemas.microsoft.com/office/drawing/2014/main" id="{5B77767B-E5F4-16B9-B75B-C3185B6CA0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9539" y="1881275"/>
            <a:ext cx="5730238" cy="4427450"/>
          </a:xfrm>
        </p:spPr>
      </p:pic>
    </p:spTree>
    <p:extLst>
      <p:ext uri="{BB962C8B-B14F-4D97-AF65-F5344CB8AC3E}">
        <p14:creationId xmlns:p14="http://schemas.microsoft.com/office/powerpoint/2010/main" val="3752640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EECD0-2319-44C0-97CA-85AE38CF1F0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Validation Result</a:t>
            </a:r>
            <a:endParaRPr lang="en-US" dirty="0"/>
          </a:p>
        </p:txBody>
      </p:sp>
      <p:pic>
        <p:nvPicPr>
          <p:cNvPr id="4" name="Content Placeholder 4">
            <a:extLst>
              <a:ext uri="{FF2B5EF4-FFF2-40B4-BE49-F238E27FC236}">
                <a16:creationId xmlns:a16="http://schemas.microsoft.com/office/drawing/2014/main" id="{ED079B09-0F3C-118C-9348-7386CEECD4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0863" y="2608729"/>
            <a:ext cx="10690878" cy="1613647"/>
          </a:xfrm>
        </p:spPr>
      </p:pic>
    </p:spTree>
    <p:extLst>
      <p:ext uri="{BB962C8B-B14F-4D97-AF65-F5344CB8AC3E}">
        <p14:creationId xmlns:p14="http://schemas.microsoft.com/office/powerpoint/2010/main" val="1489687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A3D7-DC85-646D-CD23-8BAC34DF0C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Challenges</a:t>
            </a:r>
            <a:endParaRPr lang="en-US" dirty="0"/>
          </a:p>
        </p:txBody>
      </p:sp>
      <p:sp>
        <p:nvSpPr>
          <p:cNvPr id="3" name="Content Placeholder 2">
            <a:extLst>
              <a:ext uri="{FF2B5EF4-FFF2-40B4-BE49-F238E27FC236}">
                <a16:creationId xmlns:a16="http://schemas.microsoft.com/office/drawing/2014/main" id="{CC1B6866-EE9B-5758-F417-94BF6ED3322C}"/>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Less accurate for extreme poses.</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Noisy background or poor lighting can affect results.</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MPII has some complex multi-person frames.</a:t>
            </a:r>
          </a:p>
          <a:p>
            <a:endParaRPr lang="en-US" dirty="0"/>
          </a:p>
        </p:txBody>
      </p:sp>
    </p:spTree>
    <p:extLst>
      <p:ext uri="{BB962C8B-B14F-4D97-AF65-F5344CB8AC3E}">
        <p14:creationId xmlns:p14="http://schemas.microsoft.com/office/powerpoint/2010/main" val="4024008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EAED-A5AE-50F4-21FD-42F4B8C099D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Work</a:t>
            </a:r>
            <a:endParaRPr lang="en-US" dirty="0"/>
          </a:p>
        </p:txBody>
      </p:sp>
      <p:sp>
        <p:nvSpPr>
          <p:cNvPr id="3" name="Content Placeholder 2">
            <a:extLst>
              <a:ext uri="{FF2B5EF4-FFF2-40B4-BE49-F238E27FC236}">
                <a16:creationId xmlns:a16="http://schemas.microsoft.com/office/drawing/2014/main" id="{F6C8C836-6DDD-FC2A-69A1-D15A8AD913CB}"/>
              </a:ext>
            </a:extLst>
          </p:cNvPr>
          <p:cNvSpPr>
            <a:spLocks noGrp="1"/>
          </p:cNvSpPr>
          <p:nvPr>
            <p:ph idx="1"/>
          </p:nvPr>
        </p:nvSpPr>
        <p:spPr>
          <a:xfrm>
            <a:off x="550863" y="2140093"/>
            <a:ext cx="11090274" cy="3979625"/>
          </a:xfrm>
        </p:spPr>
        <p:txBody>
          <a:bodyPr/>
          <a:lstStyle/>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Integrate </a:t>
            </a:r>
            <a:r>
              <a:rPr lang="en-US" altLang="en-US" dirty="0" err="1">
                <a:solidFill>
                  <a:schemeClr val="tx1">
                    <a:lumMod val="75000"/>
                  </a:schemeClr>
                </a:solidFill>
                <a:latin typeface="Times New Roman" panose="02020603050405020304" pitchFamily="18" charset="0"/>
                <a:cs typeface="Times New Roman" panose="02020603050405020304" pitchFamily="18" charset="0"/>
              </a:rPr>
              <a:t>MediaPipe</a:t>
            </a:r>
            <a:r>
              <a:rPr lang="en-US" altLang="en-US" dirty="0">
                <a:solidFill>
                  <a:schemeClr val="tx1">
                    <a:lumMod val="75000"/>
                  </a:schemeClr>
                </a:solidFill>
                <a:latin typeface="Times New Roman" panose="02020603050405020304" pitchFamily="18" charset="0"/>
                <a:cs typeface="Times New Roman" panose="02020603050405020304" pitchFamily="18" charset="0"/>
              </a:rPr>
              <a:t> with pose classification.</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Fine-tune or combine with deep learning models.</a:t>
            </a:r>
          </a:p>
          <a:p>
            <a:pPr marL="0" lvl="0" indent="0" eaLnBrk="0" fontAlgn="base" hangingPunct="0">
              <a:lnSpc>
                <a:spcPct val="100000"/>
              </a:lnSpc>
              <a:spcBef>
                <a:spcPct val="0"/>
              </a:spcBef>
              <a:spcAft>
                <a:spcPct val="0"/>
              </a:spcAft>
              <a:buFontTx/>
              <a:buChar char="•"/>
            </a:pPr>
            <a:endParaRPr lang="en-US" altLang="en-US" dirty="0">
              <a:solidFill>
                <a:schemeClr val="tx1">
                  <a:lumMod val="75000"/>
                </a:schemeClr>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solidFill>
                  <a:schemeClr val="tx1">
                    <a:lumMod val="75000"/>
                  </a:schemeClr>
                </a:solidFill>
                <a:latin typeface="Times New Roman" panose="02020603050405020304" pitchFamily="18" charset="0"/>
                <a:cs typeface="Times New Roman" panose="02020603050405020304" pitchFamily="18" charset="0"/>
              </a:rPr>
              <a:t>Expand validation to include multi-person datasets like COCO</a:t>
            </a:r>
            <a:r>
              <a:rPr lang="en-US" altLang="en-US" sz="1800" dirty="0">
                <a:solidFill>
                  <a:schemeClr val="tx1">
                    <a:lumMod val="75000"/>
                  </a:schemeClr>
                </a:solidFill>
                <a:latin typeface="Arial" panose="020B0604020202020204" pitchFamily="34" charset="0"/>
              </a:rPr>
              <a:t>.</a:t>
            </a:r>
          </a:p>
          <a:p>
            <a:endParaRPr lang="en-US" dirty="0"/>
          </a:p>
        </p:txBody>
      </p:sp>
    </p:spTree>
    <p:extLst>
      <p:ext uri="{BB962C8B-B14F-4D97-AF65-F5344CB8AC3E}">
        <p14:creationId xmlns:p14="http://schemas.microsoft.com/office/powerpoint/2010/main" val="598564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6AAE-1E23-06C6-B80B-51FC8FA91EE4}"/>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FD911FB-36FA-17A5-83E2-EE63527E15E2}"/>
              </a:ext>
            </a:extLst>
          </p:cNvPr>
          <p:cNvSpPr>
            <a:spLocks noGrp="1"/>
          </p:cNvSpPr>
          <p:nvPr>
            <p:ph idx="1"/>
          </p:nvPr>
        </p:nvSpPr>
        <p:spPr/>
        <p:txBody>
          <a:bodyPr/>
          <a:lstStyle/>
          <a:p>
            <a:pPr>
              <a:buFont typeface="Arial" panose="020B0604020202020204" pitchFamily="34" charset="0"/>
              <a:buChar char="•"/>
            </a:pPr>
            <a:r>
              <a:rPr lang="en-US" dirty="0" err="1"/>
              <a:t>MediaPipe</a:t>
            </a:r>
            <a:r>
              <a:rPr lang="en-US" dirty="0"/>
              <a:t> is efficient for real-time human pose estimation.</a:t>
            </a:r>
          </a:p>
          <a:p>
            <a:pPr>
              <a:buFont typeface="Arial" panose="020B0604020202020204" pitchFamily="34" charset="0"/>
              <a:buChar char="•"/>
            </a:pPr>
            <a:r>
              <a:rPr lang="en-US" dirty="0"/>
              <a:t>MPII validation confirms robustness in general conditions.</a:t>
            </a:r>
          </a:p>
          <a:p>
            <a:pPr>
              <a:buFont typeface="Arial" panose="020B0604020202020204" pitchFamily="34" charset="0"/>
              <a:buChar char="•"/>
            </a:pPr>
            <a:r>
              <a:rPr lang="en-US" dirty="0"/>
              <a:t>Trade-off between speed and precision compared to heavy DL models.</a:t>
            </a:r>
          </a:p>
          <a:p>
            <a:endParaRPr lang="en-US" dirty="0"/>
          </a:p>
        </p:txBody>
      </p:sp>
    </p:spTree>
    <p:extLst>
      <p:ext uri="{BB962C8B-B14F-4D97-AF65-F5344CB8AC3E}">
        <p14:creationId xmlns:p14="http://schemas.microsoft.com/office/powerpoint/2010/main" val="1464776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949EC-D78C-19E6-4C73-A9A3A9379BDB}"/>
              </a:ext>
            </a:extLst>
          </p:cNvPr>
          <p:cNvSpPr>
            <a:spLocks noGrp="1"/>
          </p:cNvSpPr>
          <p:nvPr>
            <p:ph type="title"/>
          </p:nvPr>
        </p:nvSpPr>
        <p:spPr>
          <a:xfrm>
            <a:off x="550862" y="549275"/>
            <a:ext cx="11091600" cy="5080344"/>
          </a:xfrm>
        </p:spPr>
        <p:txBody>
          <a:bodyPr/>
          <a:lstStyle/>
          <a:p>
            <a:br>
              <a:rPr lang="en-US"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C640F525-5CD9-2991-24C3-6DA3738D64CB}"/>
              </a:ext>
            </a:extLst>
          </p:cNvPr>
          <p:cNvSpPr>
            <a:spLocks noGrp="1" noChangeArrowheads="1"/>
          </p:cNvSpPr>
          <p:nvPr>
            <p:ph idx="1"/>
          </p:nvPr>
        </p:nvSpPr>
        <p:spPr bwMode="auto">
          <a:xfrm>
            <a:off x="550862" y="2419507"/>
            <a:ext cx="9738891" cy="336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Docs: </a:t>
            </a:r>
            <a:r>
              <a:rPr lang="en-US" altLang="en-US" sz="1800" dirty="0">
                <a:solidFill>
                  <a:schemeClr val="tx1"/>
                </a:solidFill>
                <a:latin typeface="Times New Roman" panose="02020603050405020304" pitchFamily="18" charset="0"/>
                <a:cs typeface="Times New Roman" panose="02020603050405020304" pitchFamily="18" charset="0"/>
                <a:hlinkClick r:id="rId2"/>
              </a:rPr>
              <a:t>https://google.github.io/mediapipe/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lang="en-US" sz="1800" dirty="0"/>
              <a:t>Cao, Zhe, et al. “Realtime Multi-Person 2D Pose Estimation Using Part Affinity Fields.” In Proceedings of the IEEE Conference on Computer Vision and Pattern Recognition (CVPR), 2017</a:t>
            </a:r>
          </a:p>
          <a:p>
            <a:pPr lvl="0" eaLnBrk="0" fontAlgn="base" hangingPunct="0">
              <a:lnSpc>
                <a:spcPct val="150000"/>
              </a:lnSpc>
              <a:spcBef>
                <a:spcPct val="0"/>
              </a:spcBef>
              <a:spcAft>
                <a:spcPct val="0"/>
              </a:spcAft>
            </a:pPr>
            <a:r>
              <a:rPr lang="en-US" sz="1800" dirty="0"/>
              <a:t>Cao, Zhe, et al. “</a:t>
            </a:r>
            <a:r>
              <a:rPr lang="en-US" sz="1800" dirty="0" err="1"/>
              <a:t>OpenPose</a:t>
            </a:r>
            <a:r>
              <a:rPr lang="en-US" sz="1800" dirty="0"/>
              <a:t>: Realtime Multi-Person 2D Pose Estimation with a Single Deep Neural Network.” </a:t>
            </a:r>
            <a:r>
              <a:rPr lang="en-US" sz="1800" dirty="0" err="1"/>
              <a:t>arXiv</a:t>
            </a:r>
            <a:r>
              <a:rPr lang="en-US" sz="1800" dirty="0"/>
              <a:t> preprint arXiv:1812.08008, 2019. </a:t>
            </a:r>
          </a:p>
          <a:p>
            <a:pPr lvl="0" eaLnBrk="0" fontAlgn="base" hangingPunct="0">
              <a:lnSpc>
                <a:spcPct val="150000"/>
              </a:lnSpc>
              <a:spcBef>
                <a:spcPct val="0"/>
              </a:spcBef>
              <a:spcAft>
                <a:spcPct val="0"/>
              </a:spcAft>
            </a:pPr>
            <a:r>
              <a:rPr lang="en-US" sz="1800" dirty="0"/>
              <a:t>Chu, Qi, et al. “Pose Estimation: A Survey of Methods, Applications, and Challenges.” IEEE Transactions on Image Processing, vol. 28, no. 4, 2019.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9651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5" name="Group 14">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6" name="Freeform: Shape 15">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Oval 17">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1" name="Rectangle 20">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80FFDD-DC02-65A6-1F9D-7A82C0A858B4}"/>
              </a:ext>
            </a:extLst>
          </p:cNvPr>
          <p:cNvSpPr>
            <a:spLocks noGrp="1"/>
          </p:cNvSpPr>
          <p:nvPr>
            <p:ph type="title"/>
          </p:nvPr>
        </p:nvSpPr>
        <p:spPr>
          <a:xfrm>
            <a:off x="550863" y="549275"/>
            <a:ext cx="5437187" cy="2986234"/>
          </a:xfrm>
        </p:spPr>
        <p:txBody>
          <a:bodyPr vert="horz" wrap="square" lIns="0" tIns="0" rIns="0" bIns="0" rtlCol="0" anchor="b" anchorCtr="0">
            <a:normAutofit/>
          </a:bodyPr>
          <a:lstStyle/>
          <a:p>
            <a:pPr>
              <a:lnSpc>
                <a:spcPct val="100000"/>
              </a:lnSpc>
            </a:pPr>
            <a:r>
              <a:rPr lang="en-US" sz="6400" dirty="0"/>
              <a:t>Thank You</a:t>
            </a:r>
          </a:p>
        </p:txBody>
      </p:sp>
      <p:sp>
        <p:nvSpPr>
          <p:cNvPr id="23" name="Oval 22">
            <a:extLst>
              <a:ext uri="{FF2B5EF4-FFF2-40B4-BE49-F238E27FC236}">
                <a16:creationId xmlns:a16="http://schemas.microsoft.com/office/drawing/2014/main" id="{BEBFBB3C-FA07-4A06-A8D8-D690F92A2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6000" y="501282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6" name="Graphic 5" descr="Handshake">
            <a:extLst>
              <a:ext uri="{FF2B5EF4-FFF2-40B4-BE49-F238E27FC236}">
                <a16:creationId xmlns:a16="http://schemas.microsoft.com/office/drawing/2014/main" id="{603C3B24-499D-08BB-32C3-8AFA3CBE3F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03952" y="711200"/>
            <a:ext cx="5437187" cy="5437187"/>
          </a:xfrm>
          <a:custGeom>
            <a:avLst/>
            <a:gdLst/>
            <a:ahLst/>
            <a:cxnLst/>
            <a:rect l="l" t="t" r="r" b="b"/>
            <a:pathLst>
              <a:path w="5437187" h="5761037">
                <a:moveTo>
                  <a:pt x="0" y="0"/>
                </a:moveTo>
                <a:lnTo>
                  <a:pt x="5437187" y="0"/>
                </a:lnTo>
                <a:lnTo>
                  <a:pt x="5437187" y="5761037"/>
                </a:lnTo>
                <a:lnTo>
                  <a:pt x="0" y="5761037"/>
                </a:lnTo>
                <a:close/>
              </a:path>
            </a:pathLst>
          </a:custGeom>
        </p:spPr>
      </p:pic>
    </p:spTree>
    <p:extLst>
      <p:ext uri="{BB962C8B-B14F-4D97-AF65-F5344CB8AC3E}">
        <p14:creationId xmlns:p14="http://schemas.microsoft.com/office/powerpoint/2010/main" val="38828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E4AF232-AEC3-40BB-A837-9714AFCF461C}">
  <we:reference id="wa200001560" version="2.0.0.0" store="en-US" storeType="OMEX"/>
  <we:alternateReferences>
    <we:reference id="WA200001560" version="2.0.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89CC7E9-A93B-4A76-B51C-48129F5438B3}">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3.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2751</TotalTime>
  <Words>664</Words>
  <Application>Microsoft Office PowerPoint</Application>
  <PresentationFormat>Widescreen</PresentationFormat>
  <Paragraphs>102</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Gill Sans MT</vt:lpstr>
      <vt:lpstr>Times New Roman</vt:lpstr>
      <vt:lpstr>Walbaum Display</vt:lpstr>
      <vt:lpstr>3DFloatVTI</vt:lpstr>
      <vt:lpstr>Real-Time Human Pose Tracking  CSC 699- Final Project  Under The Guidance Dr. Chaoyang Zhang                           Presented by: Nandini Suridevara                                       </vt:lpstr>
      <vt:lpstr>Agenda</vt:lpstr>
      <vt:lpstr>Abstract</vt:lpstr>
      <vt:lpstr>Introduction</vt:lpstr>
      <vt:lpstr>What is Human Pose Estimation?</vt:lpstr>
      <vt:lpstr>Overview of Media Pipe Library</vt:lpstr>
      <vt:lpstr>Media Pipe Pipeline</vt:lpstr>
      <vt:lpstr>Key Features of Media Pipe Pose</vt:lpstr>
      <vt:lpstr>PowerPoint Presentation</vt:lpstr>
      <vt:lpstr>Sample Code Snippet</vt:lpstr>
      <vt:lpstr>Introduction to MPII Dataset</vt:lpstr>
      <vt:lpstr>Validation using MPII Dataset</vt:lpstr>
      <vt:lpstr>Results and Analysis</vt:lpstr>
      <vt:lpstr>Pose Tracking Result</vt:lpstr>
      <vt:lpstr>Validation Result</vt:lpstr>
      <vt:lpstr>Challenges</vt:lpstr>
      <vt:lpstr>Future Work</vt:lpstr>
      <vt:lpstr>Conclusion</vt:lpstr>
      <vt:lpstr>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Sowmya Gonugunta</dc:creator>
  <cp:lastModifiedBy>LAKSHMI NARAYANA ANNAM</cp:lastModifiedBy>
  <cp:revision>7</cp:revision>
  <dcterms:created xsi:type="dcterms:W3CDTF">2025-04-20T18:22:15Z</dcterms:created>
  <dcterms:modified xsi:type="dcterms:W3CDTF">2025-12-07T05:44:16Z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